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Tomassetti, Quick Domain-Specific Languages in Python with textX (textX uses the same meta-language to define grammar and model structure).
- Karle et al., Parsl+CWL: Towards Combining the Python and CWL Ecosystems (CWL CommandLineTools and Workflows, portability, and runner responsibilities).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Karle et al., Parsl+CWL (CWL tool definitions become reusable executable components; workflows specify dependencies rather than execution order).
- Lampa et al., SciPipe (reusable components, parameterized ML workflows, and reduced fragmentation are important for complex ML pipelines).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Karle et al., Parsl+CWL (CommandLineTools define interfaces; Workflows connect steps via inputs/outputs; cwltool validates and executes CWL descriptions).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LeadFlowML DSL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LeadFlowML DSL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76656" y="170078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6276"/>
                </a:solidFill>
              </a:rPr>
              <a:t>A textX + CWL approach for classifying new sales cases from historical training data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24688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523744"/>
            <a:ext cx="1399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textX grammar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59152" y="24688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14016" y="2523744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CWL generation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51376" y="2468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523744"/>
            <a:ext cx="1307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ML scoring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24688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9864" y="2523744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Jupyter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3794760"/>
            <a:ext cx="9326880" cy="0"/>
          </a:xfrm>
          <a:prstGeom prst="line">
            <a:avLst/>
          </a:prstGeom>
          <a:noFill/>
          <a:ln w="25400">
            <a:solidFill>
              <a:srgbClr val="B9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91840"/>
            <a:ext cx="804672" cy="804672"/>
          </a:xfrm>
          <a:prstGeom prst="ellipse">
            <a:avLst/>
          </a:prstGeom>
          <a:solidFill>
            <a:srgbClr val="1732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sales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5354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</a:rPr>
              <a:t>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291840"/>
            <a:ext cx="804672" cy="804672"/>
          </a:xfrm>
          <a:prstGeom prst="ellipse">
            <a:avLst/>
          </a:prstGeom>
          <a:solidFill>
            <a:srgbClr val="2C7D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DSL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5354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</a:rPr>
              <a:t>spec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291840"/>
            <a:ext cx="804672" cy="804672"/>
          </a:xfrm>
          <a:prstGeom prst="ellipse">
            <a:avLst/>
          </a:prstGeom>
          <a:solidFill>
            <a:srgbClr val="1732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generated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45354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</a:rPr>
              <a:t>CWL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09560" y="3291840"/>
            <a:ext cx="804672" cy="804672"/>
          </a:xfrm>
          <a:prstGeom prst="ellipse">
            <a:avLst/>
          </a:prstGeom>
          <a:solidFill>
            <a:srgbClr val="2C7D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trained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5354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</a:rPr>
              <a:t>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3291840"/>
            <a:ext cx="804672" cy="804672"/>
          </a:xfrm>
          <a:prstGeom prst="ellipse">
            <a:avLst/>
          </a:prstGeom>
          <a:solidFill>
            <a:srgbClr val="1732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new-case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12680" y="45354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</a:rPr>
              <a:t>predictions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5623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End-to-end project package: executive summary, executed notebook, source package, and presentation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Why use a DSL here?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</a:rPr>
              <a:t>The project translates domain intent into a reproducible workflow.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46120" y="2834640"/>
            <a:ext cx="914400" cy="0"/>
          </a:xfrm>
          <a:prstGeom prst="line">
            <a:avLst/>
          </a:prstGeom>
          <a:noFill/>
          <a:ln w="2794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296912" y="2834640"/>
            <a:ext cx="914400" cy="0"/>
          </a:xfrm>
          <a:prstGeom prst="line">
            <a:avLst/>
          </a:prstGeom>
          <a:noFill/>
          <a:ln w="2794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5DF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Domain abstraction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The analyst writes business concepts like data, features, model, metrics, and outputs instead of low-level orchestration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5DF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Portable workflow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51960" y="25146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The DSL is compiled into reusable CWL CommandLineTools and a Workflow with explicit inputs, outputs, and dependencies.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8288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5DF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Execution clarity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25146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Training, validation, and scoring remain separate tools, so results are easier to test, reproduce, and explain.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4709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</a:rPr>
              <a:t>Key design choice: keep the user-facing language compact, then let the processor generate the executable workflow layer.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544068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5495544"/>
            <a:ext cx="1810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grammar →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5440680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5495544"/>
            <a:ext cx="2633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CommandLineTool + Workflow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25312" y="544068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5495544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reusable ML components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DSL surface syntax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</a:rPr>
              <a:t>One compact specification is enough to describe the ML case-classification pipeline.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669280" cy="4800600"/>
          </a:xfrm>
          <a:prstGeom prst="roundRect">
            <a:avLst>
              <a:gd name="adj" fmla="val 1143"/>
            </a:avLst>
          </a:prstGeom>
          <a:solidFill>
            <a:srgbClr val="13253A"/>
          </a:solidFill>
          <a:ln w="12700">
            <a:solidFill>
              <a:srgbClr val="132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516636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LeadQualification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"Classify new sales leads from historical CRM cases using a reproducible workflow."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 "data/train_sales_cases.csv"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"data/new_sales_cases.csv"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lead_id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 qualified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numeric age, annual_income, website_visits, prior_purchases, support_tickets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categorical region, channel, loyalty_segment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algorithm logistic_regression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test_size 0.25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 42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600200"/>
            <a:ext cx="4892040" cy="1078992"/>
          </a:xfrm>
          <a:prstGeom prst="roundRect">
            <a:avLst>
              <a:gd name="adj" fmla="val 4237"/>
            </a:avLst>
          </a:prstGeom>
          <a:solidFill>
            <a:srgbClr val="E8F0FE"/>
          </a:solidFill>
          <a:ln w="12700">
            <a:solidFill>
              <a:srgbClr val="BFD1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Semantic mapping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0" y="20848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• data → workflow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• features → preprocessing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• model → training/evaluation behavior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E70"/>
                </a:solidFill>
              </a:rPr>
              <a:t>• outputs → artifact locations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84848" y="2990088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29718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Target users edit file paths, feature groups, algorithm choice, and classification threshold without touching Python internals.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84848" y="3831336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81304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The same grammar supports multiple scenarios: default logistic regression and an alternate random-forest version are both included in the package.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84848" y="4672584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65429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This keeps the language focused on the business problem rather than general-purpose syntax.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562356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567842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default scenario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49640" y="56235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4504" y="5678424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alternate scenario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Implementation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</a:rPr>
              <a:t>textX parsing and CWL generation separate language design from execution mechanics.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0" y="3063240"/>
            <a:ext cx="914400" cy="0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60520" y="3063240"/>
            <a:ext cx="914400" cy="0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00800" y="3063240"/>
            <a:ext cx="914400" cy="0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0" y="3063240"/>
            <a:ext cx="914400" cy="0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2331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7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LeadFlow DSL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971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E70"/>
                </a:solidFill>
              </a:rPr>
              <a:t>Human-authored spec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63240" y="2331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EEF5FF"/>
          </a:solidFill>
          <a:ln w="15240">
            <a:solidFill>
              <a:srgbClr val="C7D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06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textX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971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E70"/>
                </a:solidFill>
              </a:rPr>
              <a:t>Parsed object graph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0" y="2331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7D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606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DSL processor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40680" y="2971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E70"/>
                </a:solidFill>
              </a:rPr>
              <a:t>Generates CWL + JSON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2331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EEF5FF"/>
          </a:solidFill>
          <a:ln w="15240">
            <a:solidFill>
              <a:srgbClr val="C7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606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ML runtime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2971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E70"/>
                </a:solidFill>
              </a:rPr>
              <a:t>validate/train/score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84080" y="2331720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7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606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Artifacts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21240" y="2971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E70"/>
                </a:solidFill>
              </a:rPr>
              <a:t>model + report + CSV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4617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Reusable CWL steps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4983480"/>
            <a:ext cx="1417320" cy="530352"/>
          </a:xfrm>
          <a:prstGeom prst="roundRect">
            <a:avLst>
              <a:gd name="adj" fmla="val 517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157216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validate_data.cwl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651760" y="4983480"/>
            <a:ext cx="1417320" cy="530352"/>
          </a:xfrm>
          <a:prstGeom prst="roundRect">
            <a:avLst>
              <a:gd name="adj" fmla="val 517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5157216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train_model.cwl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389120" y="4983480"/>
            <a:ext cx="1417320" cy="530352"/>
          </a:xfrm>
          <a:prstGeom prst="roundRect">
            <a:avLst>
              <a:gd name="adj" fmla="val 517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5157216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score_cases.cwl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126480" y="4983480"/>
            <a:ext cx="1417320" cy="530352"/>
          </a:xfrm>
          <a:prstGeom prst="roundRect">
            <a:avLst>
              <a:gd name="adj" fmla="val 517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5157216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workflow.cwl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772400" y="4572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The architecture follows the literature emphasis on reusable components, explicit tool interfaces, and portable workflow descriptions.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Generated CWL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</a:rPr>
              <a:t>The DSL processor emits standard CWL YAML rather than a custom runtime-only format.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57784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524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12064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cwlVersion: v1.2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 Workflow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doc: Generated from LeadFlow DSL project LeadQualification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train_csv: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score_csv: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validation_report: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outputSource: validate/validation_report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model_file: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outputSource: train/model_file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report_file: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outputSource: train/report_file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predictions_file: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outputSource: score/predictions_file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run: validate_data.cwl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18120" y="2377440"/>
            <a:ext cx="0" cy="658368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784080" y="3154680"/>
            <a:ext cx="0" cy="658368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475720" y="3154680"/>
            <a:ext cx="-960120" cy="0"/>
          </a:xfrm>
          <a:prstGeom prst="line">
            <a:avLst/>
          </a:prstGeom>
          <a:noFill/>
          <a:ln w="25400">
            <a:solidFill>
              <a:srgbClr val="7AA7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0" y="164592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 w="12700">
            <a:solidFill>
              <a:srgbClr val="BFD1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85623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validate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274320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62288" y="29626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12680" y="388620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0" y="41056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4983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Outputs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95160" y="5303520"/>
            <a:ext cx="3337560" cy="256032"/>
          </a:xfrm>
          <a:prstGeom prst="roundRect">
            <a:avLst>
              <a:gd name="adj" fmla="val 10714"/>
            </a:avLst>
          </a:prstGeom>
          <a:solidFill>
            <a:srgbClr val="EEF5FF"/>
          </a:solidFill>
          <a:ln w="12700">
            <a:solidFill>
              <a:srgbClr val="BFD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5367528"/>
            <a:ext cx="2880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validation_report.json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5614416"/>
            <a:ext cx="3337560" cy="256032"/>
          </a:xfrm>
          <a:prstGeom prst="roundRect">
            <a:avLst>
              <a:gd name="adj" fmla="val 10714"/>
            </a:avLst>
          </a:prstGeom>
          <a:solidFill>
            <a:srgbClr val="17324D"/>
          </a:solidFill>
          <a:ln w="12700">
            <a:solidFill>
              <a:srgbClr val="BFD1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5678424"/>
            <a:ext cx="2880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evaluation_report.json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95160" y="5925312"/>
            <a:ext cx="3337560" cy="256032"/>
          </a:xfrm>
          <a:prstGeom prst="roundRect">
            <a:avLst>
              <a:gd name="adj" fmla="val 10714"/>
            </a:avLst>
          </a:prstGeom>
          <a:solidFill>
            <a:srgbClr val="EEF5FF"/>
          </a:solidFill>
          <a:ln w="12700">
            <a:solidFill>
              <a:srgbClr val="BFD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5989320"/>
            <a:ext cx="28803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new_case_predictions.csv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Notebook demo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</a:rPr>
              <a:t>Two scenarios were executed from the same DSL family: default logistic regression and alternate random forest.</a:t>
            </a:r>
            <a:endParaRPr lang="en-US" sz="1200" dirty="0"/>
          </a:p>
        </p:txBody>
      </p:sp>
      <p:pic>
        <p:nvPicPr>
          <p:cNvPr id="4" name="Image 0" descr="/mnt/data/LeadFlowML_Project/artifacts/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4500"/>
            <a:ext cx="6400800" cy="3200400"/>
          </a:xfrm>
          <a:prstGeom prst="rect">
            <a:avLst/>
          </a:prstGeom>
        </p:spPr>
      </p:pic>
      <p:pic>
        <p:nvPicPr>
          <p:cNvPr id="5" name="Image 1" descr="/mnt/data/LeadFlowML_Project/artifacts/prediction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31620"/>
            <a:ext cx="438912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52360" y="4663440"/>
            <a:ext cx="4069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D7E1E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0960" y="4892040"/>
            <a:ext cx="3474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Default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Accuracy 0.800   F1 0.889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CV mean F1 0.899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Alt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Accuracy 0.725   F1 0.836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13232" y="58064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Takeaway: the notebook demonstrates that changing the DSL specification changes the end-to-end behavior without changing the orchestration code.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Submission package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</a:rPr>
              <a:t>Everything requested in the assignment is included as a coherent project package.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480560"/>
          </a:xfrm>
          <a:prstGeom prst="roundRect">
            <a:avLst>
              <a:gd name="adj" fmla="val 1020"/>
            </a:avLst>
          </a:prstGeom>
          <a:solidFill>
            <a:srgbClr val="13253A"/>
          </a:solidFill>
          <a:ln w="12700">
            <a:solidFill>
              <a:srgbClr val="132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LeadFlowML_Project/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Executive_Summary_LeadFlowML.docx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notebooks/LeadFlowML_demo_executed.ipynb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dsl/leadflow.tx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workflows/*.leadflow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src/*.py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generated_cwl/*.cwl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data/*.csv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outputs/*.json, *.csv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2940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Checklist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56832" y="2368296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1152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Executive summary in Word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56832" y="3081528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1152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Executed notebook showing multiple scenarios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3794760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3758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Full source package ready to zip and upload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56832" y="4507992"/>
            <a:ext cx="146304" cy="146304"/>
          </a:xfrm>
          <a:prstGeom prst="ellipse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44714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Presentation deck for the group contest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29400" y="5212080"/>
            <a:ext cx="4434840" cy="731520"/>
          </a:xfrm>
          <a:prstGeom prst="roundRect">
            <a:avLst>
              <a:gd name="adj" fmla="val 6250"/>
            </a:avLst>
          </a:prstGeom>
          <a:solidFill>
            <a:srgbClr val="E8F0FE"/>
          </a:solidFill>
          <a:ln w="12700">
            <a:solidFill>
              <a:srgbClr val="BFD1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54132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Recommended upload: one ZIP containing the project folder plus the PPTX copy if D2L asks for separate 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End-to-end DSL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" y="19385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C6276"/>
                </a:solidFill>
              </a:rPr>
              <a:t>Design a domain language → parse with textX → generate CWL → run ML workflow → classify new cases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3026664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domain clarity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7480" y="297180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2344" y="3026664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portable execution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297180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5464" y="3026664"/>
            <a:ext cx="1810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reproducible outputs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95160" y="2971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C7D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0024" y="3026664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easy scenario switching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3840480"/>
            <a:ext cx="10058400" cy="128016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427939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Next extension ideas: hyperparameter sweeps, model registry export, deployment targets, or richer validation rules in the DSL.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LeadFlowML DSL – Sales Lead Classification</dc:title>
  <dc:subject>LeadFlowML DSL</dc:subject>
  <dc:creator>OpenAI</dc:creator>
  <cp:lastModifiedBy>OpenAI</cp:lastModifiedBy>
  <cp:revision>1</cp:revision>
  <dcterms:created xsi:type="dcterms:W3CDTF">2026-03-12T17:27:04Z</dcterms:created>
  <dcterms:modified xsi:type="dcterms:W3CDTF">2026-03-12T17:27:04Z</dcterms:modified>
</cp:coreProperties>
</file>